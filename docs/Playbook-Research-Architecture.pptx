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0" y="50292"/>
            <a:ext cx="3502152" cy="676656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8686800" y="50292"/>
            <a:ext cx="0" cy="0"/>
          </a:xfrm>
          <a:prstGeom prst="line">
            <a:avLst/>
          </a:prstGeom>
          <a:ln w="1905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1005840" y="1417320"/>
            <a:ext cx="1417320" cy="14173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417320"/>
            <a:ext cx="1417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B1629"/>
                </a:solidFill>
                <a:latin typeface="Calibri Light"/>
              </a:rPr>
              <a:t>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999232"/>
            <a:ext cx="7498079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 Light"/>
              </a:rPr>
              <a:t>Playbook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30752"/>
            <a:ext cx="7315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D4AA50"/>
                </a:solidFill>
                <a:latin typeface="Calibri Light"/>
              </a:rPr>
              <a:t>AI-Powered Deep Research Platform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5840" y="4251960"/>
            <a:ext cx="68580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4343400"/>
            <a:ext cx="6858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System Architecture Overview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0584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Agent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9748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748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9748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DB Tables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12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8912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API Routers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0760" y="4937760"/>
            <a:ext cx="1508760" cy="86868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0760" y="4937760"/>
            <a:ext cx="1508760" cy="36576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0760" y="4983480"/>
            <a:ext cx="1508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D4AA50"/>
                </a:solidFill>
                <a:latin typeface="Calibri Light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5413248"/>
            <a:ext cx="1508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  <a:latin typeface="Calibri"/>
              </a:rPr>
              <a:t>Frontend Routes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" y="59893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75569"/>
                </a:solidFill>
                <a:latin typeface="Calibri"/>
              </a:rPr>
              <a:t>Confidential  ·  Version 1.0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640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A50"/>
                </a:solidFill>
                <a:latin typeface="Calibri"/>
              </a:rPr>
              <a:t>Stack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915400" y="960120"/>
            <a:ext cx="283464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8915400" y="1051560"/>
            <a:ext cx="54864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25128" y="108813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FastAPI  ·  Python 3.12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15400" y="1801367"/>
            <a:ext cx="54864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25128" y="1837943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SvelteKit  ·  TypeScript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915400" y="2551176"/>
            <a:ext cx="54864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25128" y="2587752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PydanticAI  ·  GPT-4o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915400" y="3300984"/>
            <a:ext cx="54864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25128" y="3337560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PostgreSQL  ·  asyncpg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15400" y="4050791"/>
            <a:ext cx="54864" cy="50292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5128" y="4087368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Redis  ·  ElastiCache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15400" y="4800600"/>
            <a:ext cx="54864" cy="50292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5128" y="4837176"/>
            <a:ext cx="2743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AWS Secrets Manager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Platform Overview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2578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0058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Research Engine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" y="1335024"/>
            <a:ext cx="557784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" y="138988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Mandatory 4-phase agent loop enforces depth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180502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7 specialised tools: web, wiki, finance, SEC,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222016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Real-time SSE streaming — tokens as they're generated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263530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Self-evaluation &amp; confidence scoring before writing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305043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Inline citations + numeric conflict detection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36792" y="93268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36792" y="932688"/>
            <a:ext cx="41148" cy="257860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64807" y="100584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Team Collaboration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464807" y="1335024"/>
            <a:ext cx="557784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464807" y="138988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Create teams with role-based access (owner/admin/member)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7" y="180502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Share sessions: private → team → public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64807" y="222016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Threaded comments with @mention notifications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64807" y="263530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Pin sessions to team workspace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7" y="305043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Full team activity feed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7472" y="363016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7472" y="3630168"/>
            <a:ext cx="41148" cy="257860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5488" y="370332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Memory &amp; Intelligence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75488" y="4032504"/>
            <a:ext cx="557784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475488" y="408736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Post-research entity extraction (GPT-4o-mini)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" y="450250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Cross-session context enrichment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8" y="491764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User-defined domain research rules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" y="533278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BM25 full-text search over uploaded PDFs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5488" y="574791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Usage tracking &amp; cost dashboard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36792" y="3630168"/>
            <a:ext cx="5779008" cy="25786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36792" y="3630168"/>
            <a:ext cx="41148" cy="257860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64807" y="3703320"/>
            <a:ext cx="5577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Production Infrastructure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464807" y="4032504"/>
            <a:ext cx="557784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6464807" y="408736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AWS Secrets Manager with live credential rotation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7" y="4502505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PostgreSQL RDS + ElastiCache Redis (TLS)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64807" y="4917643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OIDC SSO — any OpenID Connect provider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64807" y="5332780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Docker Compose for zero-config local dev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64807" y="5747918"/>
            <a:ext cx="5577840" cy="4151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Async webhook jobs for external integrations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OVERVIEW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System Architecture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3</a:t>
            </a:r>
          </a:p>
        </p:txBody>
      </p:sp>
      <p:pic>
        <p:nvPicPr>
          <p:cNvPr id="13" name="Picture 12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896112"/>
            <a:ext cx="11731752" cy="559612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BACKEND · PYDANTICAI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Research Agent — Mandatory 4-Phase Loop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12848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60320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472" y="932688"/>
            <a:ext cx="1828800" cy="65836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624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0  ·  PLAN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1627632"/>
            <a:ext cx="1828800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create_research_plan
called first — always.
Scopes questions
and source strategy.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80560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28031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15184" y="932688"/>
            <a:ext cx="1828800" cy="65836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688336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1  ·  EXECUTE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15184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15184" y="1627632"/>
            <a:ext cx="18288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06624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Minimum 4 tool calls
with distinct queries:
web · wiki · finance
docs · SEC EDGAR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48272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95744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882896" y="932688"/>
            <a:ext cx="1828800" cy="65836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56048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2  ·  EVALUATE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82896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882896" y="1627632"/>
            <a:ext cx="18288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74336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evaluate_research_
completeness scores
breadth, depth,
recency 0–100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15984" y="1572768"/>
            <a:ext cx="402336" cy="54864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363455" y="1508760"/>
            <a:ext cx="54864" cy="18288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150607" y="932688"/>
            <a:ext cx="1828800" cy="65836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59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3  ·  DEEPER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50607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F0C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150607" y="1627632"/>
            <a:ext cx="1828800" cy="36576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42047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If confidence &lt; 85%:
targeted follow-up
searches fill
identified gaps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418320" y="932688"/>
            <a:ext cx="1828800" cy="65836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91472" y="987552"/>
            <a:ext cx="1691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B1629"/>
                </a:solidFill>
                <a:latin typeface="Calibri Light"/>
              </a:rPr>
              <a:t>Phase 4  ·  REPORT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418320" y="1627632"/>
            <a:ext cx="1828800" cy="2331720"/>
          </a:xfrm>
          <a:prstGeom prst="rect">
            <a:avLst/>
          </a:prstGeom>
          <a:solidFill>
            <a:srgbClr val="0F2040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418320" y="1627632"/>
            <a:ext cx="18288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0" y="1719072"/>
            <a:ext cx="1664208" cy="2176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Final markdown with
inline citations.
Conflict warnings
if &gt;25% variance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347472" y="4114800"/>
            <a:ext cx="11494008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347472" y="42062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A50"/>
                </a:solidFill>
                <a:latin typeface="Calibri"/>
              </a:rPr>
              <a:t>Real-time SSE Events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47472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02336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start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09343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664207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tool_call_start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71215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26079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tool_executing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33087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187951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tool_result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94959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49823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text_delta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656831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11695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chart_data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918704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973568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conflict_warning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180576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235440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final_report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0442448" y="4572000"/>
            <a:ext cx="1170432" cy="292608"/>
          </a:xfrm>
          <a:prstGeom prst="rect">
            <a:avLst/>
          </a:prstGeom>
          <a:solidFill>
            <a:srgbClr val="142952"/>
          </a:solidFill>
          <a:ln w="76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497312" y="4581144"/>
            <a:ext cx="1078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done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7472" y="4983480"/>
            <a:ext cx="11494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94A3B8"/>
                </a:solidFill>
                <a:latin typeface="Calibri"/>
              </a:rPr>
              <a:t>Agent streams each event type progressively — browser receives tokens and tool steps in real time without polling.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7472" y="53949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Supported models: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94560" y="5367528"/>
            <a:ext cx="3840480" cy="274320"/>
          </a:xfrm>
          <a:prstGeom prst="rect">
            <a:avLst/>
          </a:prstGeom>
          <a:solidFill>
            <a:srgbClr val="142952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286000" y="53766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OpenAI GPT-4o (default)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309360" y="5367528"/>
            <a:ext cx="3840480" cy="274320"/>
          </a:xfrm>
          <a:prstGeom prst="rect">
            <a:avLst/>
          </a:prstGeom>
          <a:solidFill>
            <a:srgbClr val="142952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0800" y="5376672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Anthropic Claude Sonnet 4.6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59E0B"/>
                </a:solidFill>
                <a:latin typeface="Calibri"/>
              </a:rPr>
              <a:t>BACKEND · RESEARCH CAPABILITIES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Agent Tools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99669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59E0B"/>
                </a:solidFill>
                <a:latin typeface="Calibri"/>
              </a:rPr>
              <a:t>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100584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9E0B"/>
                </a:solidFill>
                <a:latin typeface="Consolas"/>
              </a:rPr>
              <a:t>create_research_plan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75488" y="1316736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75488" y="1389888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Structures investigation scope, key questions, and source strategy before any research begins. Called first — mandatory.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36792" y="932688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36792" y="932688"/>
            <a:ext cx="41148" cy="12344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996696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43F5E"/>
                </a:solidFill>
                <a:latin typeface="Calibri"/>
              </a:rPr>
              <a:t>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67144" y="1005840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43F5E"/>
                </a:solidFill>
                <a:latin typeface="Consolas"/>
              </a:rPr>
              <a:t>evaluate_research_completeness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464807" y="1316736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464807" y="1389888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Self-assessment scores breadth, depth, recency, and source diversity 0–100. Triggers dig-deeper phase if below 85%.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286000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2286000"/>
            <a:ext cx="41148" cy="12344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235000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0B981"/>
                </a:solidFill>
                <a:latin typeface="Calibri"/>
              </a:rPr>
              <a:t>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7824" y="235915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0B981"/>
                </a:solidFill>
                <a:latin typeface="Consolas"/>
              </a:rPr>
              <a:t>web_search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75488" y="2670048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75488" y="27432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Tavily API integration. Returns up-to-date web results with snippets. All source URLs tracked for citation validation.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2286000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2286000"/>
            <a:ext cx="41148" cy="1234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46520" y="2350008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38BDF8"/>
                </a:solidFill>
                <a:latin typeface="Calibri"/>
              </a:rPr>
              <a:t>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67144" y="2359152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BDF8"/>
                </a:solidFill>
                <a:latin typeface="Consolas"/>
              </a:rPr>
              <a:t>wiki_lookup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464807" y="2670048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464807" y="2743200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Wikipedia API for encyclopedic background on companies, industries, concepts, and historical context.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3639312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472" y="3639312"/>
            <a:ext cx="41148" cy="123444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70332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0C96B"/>
                </a:solidFill>
                <a:latin typeface="Calibri"/>
              </a:rPr>
              <a:t>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" y="3712463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C96B"/>
                </a:solidFill>
                <a:latin typeface="Consolas"/>
              </a:rPr>
              <a:t>get_financials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75488" y="4023360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75488" y="409651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Yahoo Finance (yfinance). Price history, fundamentals, earnings, ratios. Chart payloads streamed live to the browser.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36792" y="3639312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36792" y="3639312"/>
            <a:ext cx="41148" cy="12344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3703320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8B5CF6"/>
                </a:solidFill>
                <a:latin typeface="Calibri"/>
              </a:rPr>
              <a:t>▣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7144" y="3712463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5CF6"/>
                </a:solidFill>
                <a:latin typeface="Consolas"/>
              </a:rPr>
              <a:t>search_uploaded_documents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464807" y="4023360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464807" y="4096512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BM25 Okapi full-text search over user-uploaded PDFs. Text extracted by pdfplumber, cached in Redis with 24h TTL.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4992623"/>
            <a:ext cx="5779008" cy="123444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47472" y="4992623"/>
            <a:ext cx="41148" cy="123444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056631"/>
            <a:ext cx="38404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6B6D4"/>
                </a:solidFill>
                <a:latin typeface="Calibri"/>
              </a:rPr>
              <a:t>◧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" y="5065775"/>
            <a:ext cx="5074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6B6D4"/>
                </a:solidFill>
                <a:latin typeface="Consolas"/>
              </a:rPr>
              <a:t>sec_edgar_search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75488" y="5376671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475488" y="5449823"/>
            <a:ext cx="5486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  <a:latin typeface="Calibri"/>
              </a:rPr>
              <a:t>SEC EDGAR filing lookup. 10-K, 10-Q, 8-K for public company regulatory filings and official disclosures.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8B5CF6"/>
                </a:solidFill>
                <a:latin typeface="Calibri"/>
              </a:rPr>
              <a:t>DATA · POSTGRESQL · 12 TABLES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Database Schema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8B5CF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8B5CF6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2907792" cy="32918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CORE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1298448"/>
            <a:ext cx="2907792" cy="1956815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1298448"/>
            <a:ext cx="36576" cy="1956815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onsolas"/>
              </a:rPr>
              <a:t>sessions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id UUID (PK)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title · query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report_markdown (TEXT)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message_history / trace_steps (JSONB)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" y="269748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owner_sid → users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" y="29718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visibility: private | team | public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3346703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3346703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346703"/>
            <a:ext cx="36576" cy="14081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" y="3374135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onsolas"/>
              </a:rPr>
              <a:t>users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" y="364845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sid (PK)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" y="392277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display_name · email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" y="419709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avatar_url · theme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8912" y="44714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created_at · last_login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4846320"/>
            <a:ext cx="2907792" cy="113385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47472" y="4846320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47472" y="4846320"/>
            <a:ext cx="36576" cy="113385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8912" y="4873752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onsolas"/>
              </a:rPr>
              <a:t>agent_memory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8912" y="514807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session_id → sessions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" y="542239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entity · entity_type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" y="569671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facts (JSONB array)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401568" y="932688"/>
            <a:ext cx="2907792" cy="32918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01568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COLLABORATION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401568" y="1298448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401568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01568" y="1298448"/>
            <a:ext cx="36576" cy="14081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93008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  <a:latin typeface="Consolas"/>
              </a:rPr>
              <a:t>teams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493008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id UUID (PK)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93008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slug (UNIQUE)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93008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display_name · description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493008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created_by → users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01568" y="2798064"/>
            <a:ext cx="2907792" cy="113385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401568" y="2798064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01568" y="2798064"/>
            <a:ext cx="36576" cy="113385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93008" y="2825496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  <a:latin typeface="Consolas"/>
              </a:rPr>
              <a:t>team_members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493008" y="30998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team_id + sid (composite PK)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93008" y="337413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role: owner | admin | member | viewer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93008" y="364845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joined_at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401568" y="4023360"/>
            <a:ext cx="2907792" cy="8595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4023360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401568" y="4023360"/>
            <a:ext cx="36576" cy="85953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93008" y="4050792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8BDF8"/>
                </a:solidFill>
                <a:latin typeface="Consolas"/>
              </a:rPr>
              <a:t>session_teams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493008" y="432511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session_id + team_id (PK)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493008" y="459943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shared_at — many-to-many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446520" y="932688"/>
            <a:ext cx="2907792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446520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ENGAGEMENT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46520" y="1298448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46520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46520" y="1298448"/>
            <a:ext cx="36576" cy="14081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37959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comments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537959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session_id → sessions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537959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author_sid → users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37959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body · mentions (JSONB)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537959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parent_id (threading)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46520" y="2798064"/>
            <a:ext cx="2907792" cy="8595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46520" y="2798064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446520" y="2798064"/>
            <a:ext cx="36576" cy="8595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37959" y="2825496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pinned_sessions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537959" y="30998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sid + session_id + team_id (PK)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537959" y="337413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pinned_at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46520" y="3749039"/>
            <a:ext cx="2907792" cy="113385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446520" y="3749039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446520" y="3749039"/>
            <a:ext cx="36576" cy="113385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537959" y="3776472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0B981"/>
                </a:solidFill>
                <a:latin typeface="Consolas"/>
              </a:rPr>
              <a:t>notifications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537959" y="4050791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recipient_sid → users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537959" y="4325112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type · payload (JSONB)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537959" y="4599431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read (BOOLEAN)</a:t>
            </a:r>
          </a:p>
        </p:txBody>
      </p:sp>
      <p:sp>
        <p:nvSpPr>
          <p:cNvPr id="86" name="Rectangle 85"/>
          <p:cNvSpPr/>
          <p:nvPr/>
        </p:nvSpPr>
        <p:spPr>
          <a:xfrm>
            <a:off x="9491472" y="932688"/>
            <a:ext cx="2907792" cy="32918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491472" y="932688"/>
            <a:ext cx="2907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"/>
              </a:rPr>
              <a:t>OPERATIONS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491472" y="1298448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9491472" y="1298448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9491472" y="1298448"/>
            <a:ext cx="36576" cy="14081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82912" y="1325880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onsolas"/>
              </a:rPr>
              <a:t>team_activity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582912" y="160020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team_id → teams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582912" y="1874519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actor_sid → users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9582912" y="214884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action · payload (JSONB)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582912" y="2423160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created_at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91472" y="2798064"/>
            <a:ext cx="2907792" cy="140817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9491472" y="2798064"/>
            <a:ext cx="2907792" cy="274320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9491472" y="2798064"/>
            <a:ext cx="36576" cy="14081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9582912" y="2825496"/>
            <a:ext cx="27706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59E0B"/>
                </a:solidFill>
                <a:latin typeface="Consolas"/>
              </a:rPr>
              <a:t>research_jobs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582912" y="309981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id UUID (PK)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582912" y="337413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query · webhook_url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582912" y="364845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status: queued|running|done|failed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582912" y="3922776"/>
            <a:ext cx="27706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result_markdown · error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  <a:latin typeface="Calibri"/>
              </a:rPr>
              <a:t>COLLABORATION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Session Sharing &amp; Team RBAC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9875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Session Visibility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" y="1316736"/>
            <a:ext cx="54864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47472" y="1417320"/>
            <a:ext cx="5212080" cy="1298448"/>
          </a:xfrm>
          <a:prstGeom prst="rect">
            <a:avLst/>
          </a:prstGeom>
          <a:solidFill>
            <a:srgbClr val="0F2040"/>
          </a:solidFill>
          <a:ln w="1524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417320"/>
            <a:ext cx="5212080" cy="310896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5389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1F5F9"/>
                </a:solidFill>
                <a:latin typeface="Calibri"/>
              </a:rPr>
              <a:t>PRIVATE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1801368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Owner only. Default state for all new sessions.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273405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75569"/>
                </a:solidFill>
                <a:latin typeface="Calibri"/>
              </a:rPr>
              <a:t>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6072" y="2880360"/>
            <a:ext cx="4754880" cy="1298448"/>
          </a:xfrm>
          <a:prstGeom prst="rect">
            <a:avLst/>
          </a:prstGeom>
          <a:solidFill>
            <a:srgbClr val="142952"/>
          </a:solidFill>
          <a:ln w="15240">
            <a:solidFill>
              <a:srgbClr val="F0C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6072" y="2880360"/>
            <a:ext cx="4754880" cy="310896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2916936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629"/>
                </a:solidFill>
                <a:latin typeface="Calibri"/>
              </a:rPr>
              <a:t>TEAM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64408"/>
            <a:ext cx="4572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Shared to one or more teams. Accessible to any
member via /share/{uuid} with JWT auth.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4197096"/>
            <a:ext cx="274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75569"/>
                </a:solidFill>
                <a:latin typeface="Calibri"/>
              </a:rPr>
              <a:t>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4672" y="4343400"/>
            <a:ext cx="4297680" cy="1298448"/>
          </a:xfrm>
          <a:prstGeom prst="rect">
            <a:avLst/>
          </a:prstGeom>
          <a:solidFill>
            <a:srgbClr val="14295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" y="4343400"/>
            <a:ext cx="4297680" cy="31089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4379976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B1629"/>
                </a:solidFill>
                <a:latin typeface="Calibri"/>
              </a:rPr>
              <a:t>PUBLIC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727448"/>
            <a:ext cx="4114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is_public = TRUE. Anyone can read via /share/{uuid}
without authentication. Permanent URL.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7472" y="589788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nsolas"/>
              </a:rPr>
              <a:t>POST /api/sessions/{id}/share  →  is_public=TRUE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7472" y="6144768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onsolas"/>
              </a:rPr>
              <a:t>POST /api/sessions/{id}/teams  →  visibility='team'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217920" y="932688"/>
            <a:ext cx="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400800" y="987552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BDF8"/>
                </a:solidFill>
                <a:latin typeface="Calibri"/>
              </a:rPr>
              <a:t>Team Role Hierarchy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400800" y="1316736"/>
            <a:ext cx="54864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6400800" y="1417320"/>
            <a:ext cx="457200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D4AA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00800" y="1417320"/>
            <a:ext cx="1005840" cy="109728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1417320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OWNER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79792" y="1618488"/>
            <a:ext cx="340156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Full control: edit team settings, manage all members,
delete or unshare any session.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660904"/>
            <a:ext cx="425196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660904"/>
            <a:ext cx="1005840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2660904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ADMIN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79792" y="2862072"/>
            <a:ext cx="308152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Manage members, share/unshare sessions, moderate
comments. Cannot delete team.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904488"/>
            <a:ext cx="393192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3904488"/>
            <a:ext cx="1005840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904488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MEMBER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9792" y="4105656"/>
            <a:ext cx="276148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View team sessions, share own sessions to the team,
post comments and @mentions.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5148072"/>
            <a:ext cx="3611880" cy="1097280"/>
          </a:xfrm>
          <a:prstGeom prst="rect">
            <a:avLst/>
          </a:prstGeom>
          <a:solidFill>
            <a:srgbClr val="0F2040"/>
          </a:solidFill>
          <a:ln w="1524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5148072"/>
            <a:ext cx="1005840" cy="109728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5148072"/>
            <a:ext cx="10058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B1629"/>
                </a:solidFill>
                <a:latin typeface="Calibri Light"/>
              </a:rPr>
              <a:t>VIEWER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479792" y="534924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Read-only access. Can view shared sessions and
comments. No write access.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38BDF8"/>
                </a:solidFill>
                <a:latin typeface="Calibri"/>
              </a:rPr>
              <a:t>SVELTEKIT · TYPESCRIPT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Frontend Architecture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38BDF8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987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Route Structure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" y="1298448"/>
            <a:ext cx="530352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47472" y="1389888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389888"/>
            <a:ext cx="36576" cy="420624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488" y="1453896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A50"/>
                </a:solidFill>
                <a:latin typeface="Consolas"/>
              </a:rPr>
              <a:t>+layout.server.ts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145389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JWT guard · user hydration · redirect to /login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" y="2029967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" y="1947672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" y="1911095"/>
            <a:ext cx="3035808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" y="1911095"/>
            <a:ext cx="36576" cy="42062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1975103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onsolas"/>
              </a:rPr>
              <a:t>+layout.svelte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1975103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App shell: sidebar, nav, notification badge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551176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1792" y="2468880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1792" y="2432304"/>
            <a:ext cx="3035808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" y="2432304"/>
            <a:ext cx="36576" cy="42062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249631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onsolas"/>
              </a:rPr>
              <a:t>/(app)/+page.svelte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39" y="249631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Research workspace — chat + session list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" y="3072384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6112" y="2990088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6112" y="2953512"/>
            <a:ext cx="2871216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6112" y="2953512"/>
            <a:ext cx="36576" cy="420624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4128" y="3017520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/teams/[slug]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49039" y="3017520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Team dashboard, members, pinned sessions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" y="3593591"/>
            <a:ext cx="182880" cy="36576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6112" y="3511296"/>
            <a:ext cx="36576" cy="237744"/>
          </a:xfrm>
          <a:prstGeom prst="rect">
            <a:avLst/>
          </a:prstGeom>
          <a:solidFill>
            <a:srgbClr val="1E3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6112" y="3474720"/>
            <a:ext cx="2871216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96112" y="3474720"/>
            <a:ext cx="36576" cy="420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8" y="3538727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onsolas"/>
              </a:rPr>
              <a:t>/notifications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39" y="3538727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Notification inbox (polled every 30 s)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3995927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47472" y="3995927"/>
            <a:ext cx="36576" cy="420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059935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onsolas"/>
              </a:rPr>
              <a:t>/share/[id]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49039" y="4059935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Read-only report — team members + public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4517136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" y="4517136"/>
            <a:ext cx="36576" cy="42062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4581144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4A3B8"/>
                </a:solidFill>
                <a:latin typeface="Consolas"/>
              </a:rPr>
              <a:t>/login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9039" y="4581144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OIDC redirect trigger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7472" y="5038344"/>
            <a:ext cx="3200400" cy="420624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47472" y="5038344"/>
            <a:ext cx="36576" cy="42062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5102352"/>
            <a:ext cx="2606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onsolas"/>
              </a:rPr>
              <a:t>/dashboard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49039" y="5102352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Usage stats: tokens, cost, top queries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943600" y="98755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Key Components &amp; Patterns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943600" y="1298448"/>
            <a:ext cx="59436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5943600" y="138988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943600" y="1389888"/>
            <a:ext cx="41148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53328" y="144475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59E0B"/>
                </a:solidFill>
                <a:latin typeface="Consolas"/>
              </a:rPr>
              <a:t>ChatThread.svelte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053328" y="173736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SSE EventSource listener. Streams tool_call_start, text_delta, final_report events and updates reactive stores in real time.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0" y="239572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943600" y="2395728"/>
            <a:ext cx="41148" cy="91440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53328" y="245059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0C96B"/>
                </a:solidFill>
                <a:latin typeface="Consolas"/>
              </a:rPr>
              <a:t>ResearchSwimlane.svelte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053328" y="274320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Visual timeline of agent tool calls. Shows which tool ran, arguments passed, and a 400-char result preview per step.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0" y="340156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943600" y="3401568"/>
            <a:ext cx="4114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053328" y="345643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0B981"/>
                </a:solidFill>
                <a:latin typeface="Consolas"/>
              </a:rPr>
              <a:t>api/sessions.ts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53328" y="374904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Typed REST client. All fetch() calls use credentials: 'include' so the JWT cookie is forwarded — including on SSR runs via SvelteKit's enhanced fetch.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43600" y="440740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943600" y="4407408"/>
            <a:ext cx="41148" cy="9144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53328" y="446227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8B5CF6"/>
                </a:solidFill>
                <a:latin typeface="Consolas"/>
              </a:rPr>
              <a:t>Auth guard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53328" y="475488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+layout.server.ts checks jwt cookie on every request. PUBLIC_PATHS=['/login','/share','/auth'] are exempt. Authenticated user injected into all page data.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943600" y="5413248"/>
            <a:ext cx="5943600" cy="9144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5943600" y="5413248"/>
            <a:ext cx="41148" cy="914400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053328" y="54681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6B6D4"/>
                </a:solidFill>
                <a:latin typeface="Consolas"/>
              </a:rPr>
              <a:t>Notification polling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53328" y="5760720"/>
            <a:ext cx="56692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setInterval 30 s → GET /api/notifications. Unread count drives the badge. PATCH /api/notifications/{id}/read on open.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6B6D4"/>
                </a:solidFill>
                <a:latin typeface="Calibri"/>
              </a:rPr>
              <a:t>INFRASTRUCTURE · CLOUD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AWS Infrastructure &amp; Credential Rotation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06B6D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6B6D4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" y="9875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Secrets Manager — Secret Shape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47472" y="1298448"/>
            <a:ext cx="530352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347472" y="1389888"/>
            <a:ext cx="5349240" cy="1993391"/>
          </a:xfrm>
          <a:prstGeom prst="rect">
            <a:avLst/>
          </a:prstGeom>
          <a:solidFill>
            <a:srgbClr val="0F2040"/>
          </a:solidFill>
          <a:ln w="1270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47472" y="1389888"/>
            <a:ext cx="41148" cy="199339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143560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8B5CF6"/>
                </a:solidFill>
                <a:latin typeface="Calibri"/>
              </a:rPr>
              <a:t>DB Secret  (AWS_SECRET_NAME)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72" y="1719072"/>
            <a:ext cx="5349240" cy="1664207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171907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{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1956816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"host":     "mydb.cluster.us-east-1.rds.amazonaws.com"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2286000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"port":     5432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" y="2615184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"username": "appuser"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2944368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"password": "s3cr3t!@#"   // percent-encoded in DSN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" y="3273552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"dbname":   "research"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360273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72" y="3611879"/>
            <a:ext cx="5349240" cy="1005840"/>
          </a:xfrm>
          <a:prstGeom prst="rect">
            <a:avLst/>
          </a:prstGeom>
          <a:solidFill>
            <a:srgbClr val="0F2040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47472" y="3611879"/>
            <a:ext cx="41148" cy="1005840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657599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43F5E"/>
                </a:solidFill>
                <a:latin typeface="Calibri"/>
              </a:rPr>
              <a:t>Redis Secret  (AWS_ELASTICACHE_SECRET_NAME)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941063"/>
            <a:ext cx="5349240" cy="676656"/>
          </a:xfrm>
          <a:prstGeom prst="rect">
            <a:avLst/>
          </a:prstGeom>
          <a:solidFill>
            <a:srgbClr val="1429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5488" y="3941063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{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8" y="4178807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"url":        "rediss://cluster.cache.amazonaws.com:6379"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" y="4507992"/>
            <a:ext cx="5074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0C96B"/>
                </a:solidFill>
                <a:latin typeface="Consolas"/>
              </a:rPr>
              <a:t>  "auth_token": "mytoken"    // passed as password param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5488" y="4837175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onsolas"/>
              </a:rPr>
              <a:t>}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987552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6B6D4"/>
                </a:solidFill>
                <a:latin typeface="Calibri"/>
              </a:rPr>
              <a:t>Automatic Rotation Recovery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35040" y="1298448"/>
            <a:ext cx="594360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6035040" y="1389888"/>
            <a:ext cx="402336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40" y="138988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1389888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83680" y="1453896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AWS rotates the secret on schedule or on-demand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35040" y="1920240"/>
            <a:ext cx="402336" cy="402336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5040" y="192024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1920240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0" y="1984248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Old password still valid during rotation window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450591"/>
            <a:ext cx="402336" cy="402336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450591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3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92240" y="2450591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583680" y="2514599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pool.acquire() → new DB connection → auth rejected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2980944"/>
            <a:ext cx="402336" cy="40233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2980944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92240" y="2980944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583680" y="3044951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asyncpg raises  InvalidPasswordError  (SQLSTATE 28P01)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035040" y="3511296"/>
            <a:ext cx="402336" cy="402336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035040" y="3511296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3511296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0" y="3575303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_acquire() catches → calls  _reset_pool()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035040" y="4041648"/>
            <a:ext cx="402336" cy="4023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35040" y="404164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92240" y="4041648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4105656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Pool closed · secret cache evicted (invalidate_db_secret)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4572000"/>
            <a:ext cx="402336" cy="40233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4572000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92240" y="4572000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583680" y="4636008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get_db_secret() → Secrets Manager → fresh credentials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35040" y="5102352"/>
            <a:ext cx="402336" cy="40233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035040" y="5102352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492240" y="5102352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0" y="5166360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New pool created with new DSN + ssl='require'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35040" y="5632704"/>
            <a:ext cx="402336" cy="402336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35040" y="5632704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492240" y="5632704"/>
            <a:ext cx="5394960" cy="402336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583680" y="5696712"/>
            <a:ext cx="5257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1F5F9"/>
                </a:solidFill>
                <a:latin typeface="Calibri"/>
              </a:rPr>
              <a:t>Request retried — fully transparent to the caller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035040" y="6236208"/>
            <a:ext cx="5943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94A3B8"/>
                </a:solidFill>
                <a:latin typeface="Calibri"/>
              </a:rPr>
              <a:t>Redis follows the same pattern — AuthenticationError → _reset_client() → invalidate_redis_secret() → re-fetch.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  <a:latin typeface="Calibri"/>
              </a:rPr>
              <a:t>RUNTIME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Key Data Flows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2743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005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B981"/>
                </a:solidFill>
                <a:latin typeface="Calibri"/>
              </a:rPr>
              <a:t>Research Execution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" y="1316736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" y="13898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1.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1389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User submits query → POST /api/research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1737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2.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1737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Redis: load cached PDF context for session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" y="20848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3.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20848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DB: fetch agent_memory for context enrichment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24323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4.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8" y="243230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Agent runs 4-phase loop (plan → execute → evaluate → report)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" y="277977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5.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277977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SSE events stream tokens + tool calls live to browser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" y="31272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6.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8" y="31272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final_report event → client persists session to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5488" y="347472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B981"/>
                </a:solidFill>
                <a:latin typeface="Calibri"/>
              </a:rPr>
              <a:t>7.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347472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Background: entity extraction → agent_memory (non-blocking)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36792" y="93268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36792" y="932688"/>
            <a:ext cx="41148" cy="2743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64807" y="10058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9E0B"/>
                </a:solidFill>
                <a:latin typeface="Calibri"/>
              </a:rPr>
              <a:t>Comment &amp; Notification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464807" y="1316736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464807" y="13898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1.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39128" y="1389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User posts comment with @username in body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4807" y="173736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2.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39128" y="17373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Backend regex-parses all @mention tokens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64807" y="208483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3.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39128" y="208483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Notification row inserted per mentioned user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4807" y="243230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4.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39128" y="243230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Frontend polls GET /api/notifications every 30 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64807" y="277977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5.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39128" y="277977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Unread badge increments on the notification icon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64807" y="312724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Calibri"/>
              </a:rPr>
              <a:t>6.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39128" y="312724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User opens inbox → PATCH /{id}/read or POST /read-all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47472" y="376732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7472" y="3767328"/>
            <a:ext cx="41148" cy="27432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3840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38BDF8"/>
                </a:solidFill>
                <a:latin typeface="Calibri"/>
              </a:rPr>
              <a:t>PDF Document Search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75488" y="4151376"/>
            <a:ext cx="5486400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75488" y="42245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1.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8" y="42245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User uploads PDF → POST /api/documents/upload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75488" y="45720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2.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9808" y="4572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pdfplumber extracts full text → stored in Redis (24h TTL)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8" y="49194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3.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8" y="49194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session_key returned; included in subsequent research call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5488" y="52669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4.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9808" y="526694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search_uploaded_documents tool runs BM25 over extracted text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5488" y="5614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38BDF8"/>
                </a:solidFill>
                <a:latin typeface="Calibri"/>
              </a:rPr>
              <a:t>5.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9808" y="561441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Top-scoring chunks injected into agent context window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36792" y="3767328"/>
            <a:ext cx="5779008" cy="274320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36792" y="3767328"/>
            <a:ext cx="41148" cy="274320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64807" y="38404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8B5CF6"/>
                </a:solidFill>
                <a:latin typeface="Calibri"/>
              </a:rPr>
              <a:t>Async Webhook Job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6464807" y="4151376"/>
            <a:ext cx="5486401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6464807" y="422452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1.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39128" y="422452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POST /api/research/async  {query, webhook_url}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64807" y="4572000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2.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39128" y="457200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Job row created (status: queued) → job_id returned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64807" y="4919472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3.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39128" y="4919472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FastAPI BackgroundTask runs full agent loop async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464807" y="5266944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4.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39128" y="5266944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On completion: POST result_markdown to webhook_url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64807" y="5614416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5.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39128" y="5614416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1F5F9"/>
                </a:solidFill>
                <a:latin typeface="Calibri"/>
              </a:rPr>
              <a:t>Caller polls GET /api/research/jobs/{id} for status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64807" y="5961888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8B5CF6"/>
                </a:solidFill>
                <a:latin typeface="Calibri"/>
              </a:rPr>
              <a:t>6.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739128" y="5961888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94A3B8"/>
                </a:solidFill>
                <a:latin typeface="Calibri"/>
              </a:rPr>
              <a:t>Status lifecycle: queued → running → done | failed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BACKEND · FASTAPI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API Reference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7472" y="93268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94183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" y="11247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Stream research (SSE)  ·  model, query, depth, pdf_session_key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7472" y="148132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7472" y="148132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149047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/api/research/async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167335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Async job + webhook  ·  returns job_id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7472" y="202996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7472" y="202996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203911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/api/research/jobs/{id}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222199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Poll async job status and result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57860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5786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258775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27706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List sessions owned by current user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312724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7472" y="31272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313639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" y="33192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Create new session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47472" y="367588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" y="367588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" y="368503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15568" y="386791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Fetch session (owner / team check)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4224527"/>
            <a:ext cx="713232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7472" y="422452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PATCH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" y="423367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15568" y="441655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Update title, report, visibility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7472" y="4773168"/>
            <a:ext cx="713232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47472" y="477316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DELETE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15568" y="478231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15568" y="496519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Delete session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7472" y="532180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7472" y="53218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" y="533095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/api/sessions/{id}/share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15568" y="55138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Make public  →  returns share_url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47472" y="5870448"/>
            <a:ext cx="713232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47472" y="58704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DELETE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15568" y="587959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/api/sessions/{id}/share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568" y="60624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Revoke public access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09359" y="93268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59" y="93268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077455" y="94183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/api/sessions/{id}/teams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77455" y="112471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Share to team  →  visibility=team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309359" y="1481328"/>
            <a:ext cx="713232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9359" y="148132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DELETE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77455" y="149047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/api/sessions/{id}/teams/{t}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077455" y="167335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Unshare from team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09359" y="202996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59" y="202996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077455" y="203911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/api/share/{id}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077455" y="222199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Public/team read-only (auth optional)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309359" y="2578608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59" y="25786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077455" y="258775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/api/documents/upload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77455" y="27706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Upload PDF → Redis cache → session_key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309359" y="312724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309359" y="31272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77455" y="313639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077455" y="33192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List user's teams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309359" y="3675887"/>
            <a:ext cx="713232" cy="34747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9359" y="367588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POST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77455" y="368503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77455" y="386791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Create team (caller becomes owner)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309359" y="4224527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9359" y="4224527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5" y="4233671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/api/teams/{slug}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077455" y="4416551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Get team detail + member list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09359" y="4773168"/>
            <a:ext cx="713232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309359" y="477316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PATCH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77455" y="478231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/api/teams/{slug}/members/{s}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77455" y="496519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Update member role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309359" y="532180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9359" y="532180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077455" y="533095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/api/notifications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077455" y="551383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Unread notification list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309359" y="5870448"/>
            <a:ext cx="713232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9359" y="5870448"/>
            <a:ext cx="7132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B1629"/>
                </a:solidFill>
                <a:latin typeface="Calibri"/>
              </a:rPr>
              <a:t>GET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77455" y="5879592"/>
            <a:ext cx="3291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C96B"/>
                </a:solidFill>
                <a:latin typeface="Consolas"/>
              </a:rPr>
              <a:t>/health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077455" y="6062472"/>
            <a:ext cx="548640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Health check  →  {status: ok}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D4AA50"/>
                </a:solidFill>
                <a:latin typeface="Calibri"/>
              </a:rPr>
              <a:t>DESIGN RATIONALE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Key Architectural Decisions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D4AA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4AA50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932688"/>
            <a:ext cx="41148" cy="267004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1005840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0C96B"/>
                </a:solidFill>
                <a:latin typeface="Calibri"/>
              </a:rPr>
              <a:t>SSE over WebSocket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75488" y="1335024"/>
            <a:ext cx="3621023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75488" y="138988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One-way streaming maps perfectly to research 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" y="1931669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Works through all proxies and CDNs without upgrade headers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" y="2473452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Native EventSource API — zero extra library on client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01523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Compatible with serverless (no persistent connection needed)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939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9392" y="932688"/>
            <a:ext cx="41148" cy="2670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7" y="1005840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0B981"/>
                </a:solidFill>
                <a:latin typeface="Calibri"/>
              </a:rPr>
              <a:t>asyncpg Direct — No ORM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407407" y="1335024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407407" y="138988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Maximum async performance — zero sync blocking overhead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7" y="1931669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Advisory locks for safe concurrent schema migrations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7" y="2473452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Native JSONB for message_history and trace_steps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07407" y="301523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Simple parameterised queries without abstraction tax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11312" y="932688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11312" y="932688"/>
            <a:ext cx="41148" cy="2670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39328" y="1005840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9E0B"/>
                </a:solidFill>
                <a:latin typeface="Calibri"/>
              </a:rPr>
              <a:t>Mandatory 4-Phase Loop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39328" y="1335024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39328" y="138988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Prevents shallow single-tool responses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1931669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Forces self-evaluation before writing begins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2473452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Minimum 4 tool calls ensures research breadth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301523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Confidence scoring and conflict detection built 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4747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47472" y="3712464"/>
            <a:ext cx="41148" cy="26700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" y="378561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38BDF8"/>
                </a:solidFill>
                <a:latin typeface="Calibri"/>
              </a:rPr>
              <a:t>Graceful Degradation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475488" y="4114800"/>
            <a:ext cx="3621023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475488" y="416966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Redis unavailable → in-memory fallback, app keeps running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" y="4711446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DB not configured → endpoints return empty lists (no 500s)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8" y="525322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OIDC not set → dev bypass for friction-free local dev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5488" y="5795010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Each service fails independently — not catastrophically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7939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79392" y="3712464"/>
            <a:ext cx="41148" cy="267004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07407" y="378561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06B6D4"/>
                </a:solidFill>
                <a:latin typeface="Calibri"/>
              </a:rPr>
              <a:t>Runtime Secret Rotation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407407" y="4114800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407407" y="416966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No restart required when AWS rotates credentials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07407" y="4711446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Auth errors detected on next pool.acquire() call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07407" y="525322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Single retry after re-fetching from Secrets Manager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07407" y="5795010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asyncio.Lock prevents thundering-herd on pool reset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211312" y="3712464"/>
            <a:ext cx="3822191" cy="267004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211312" y="3712464"/>
            <a:ext cx="41148" cy="267004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39328" y="3785616"/>
            <a:ext cx="3621023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8B5CF6"/>
                </a:solidFill>
                <a:latin typeface="Calibri"/>
              </a:rPr>
              <a:t>3-Tier Visibility Model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8339328" y="4114800"/>
            <a:ext cx="3621024" cy="0"/>
          </a:xfrm>
          <a:prstGeom prst="line">
            <a:avLst/>
          </a:prstGeom>
          <a:ln w="508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8339328" y="4169664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private → team → public: clear escalation path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39328" y="4711446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Permanent share URLs: /share/{uuid} never changes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39328" y="5253228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1F5F9"/>
                </a:solidFill>
                <a:latin typeface="Calibri"/>
              </a:rPr>
              <a:t>Team membership verified server-side on every request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39328" y="5795010"/>
            <a:ext cx="3621023" cy="5417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94A3B8"/>
                </a:solidFill>
                <a:latin typeface="Calibri"/>
              </a:rPr>
              <a:t>4-level RBAC: owner &gt; admin &gt; member &gt; viewer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"/>
            <a:ext cx="12188952" cy="804672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0" y="854964"/>
            <a:ext cx="12188952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41148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B981"/>
                </a:solidFill>
                <a:latin typeface="Calibri"/>
              </a:rPr>
              <a:t>INFRASTRUCTURE · GETTING STARTED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338328"/>
            <a:ext cx="1051560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 i="0">
                <a:solidFill>
                  <a:srgbClr val="FFFFFF"/>
                </a:solidFill>
                <a:latin typeface="Calibri Light"/>
              </a:rPr>
              <a:t>Deployment Guide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0" y="6556248"/>
            <a:ext cx="12188952" cy="0"/>
          </a:xfrm>
          <a:prstGeom prst="line">
            <a:avLst/>
          </a:prstGeom>
          <a:ln w="508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658368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  <a:latin typeface="Calibri"/>
              </a:rPr>
              <a:t>PLAYBOOK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658368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0" i="0">
                <a:solidFill>
                  <a:srgbClr val="475569"/>
                </a:solidFill>
                <a:latin typeface="Calibri"/>
              </a:rPr>
              <a:t>CONFIDENTIAL  ·  DO NOT DISTRIBUTE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583680"/>
            <a:ext cx="594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94A3B8"/>
                </a:solidFill>
                <a:latin typeface="Calibri"/>
              </a:rPr>
              <a:t>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932688"/>
            <a:ext cx="5486400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95097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629"/>
                </a:solidFill>
                <a:latin typeface="Calibri"/>
              </a:rPr>
              <a:t>Local Development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472" y="1353312"/>
            <a:ext cx="347472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" y="138074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353312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138074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docker compose up -d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162763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Starts Postgres 16 + Redis 7 with health checks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72" y="2020824"/>
            <a:ext cx="347472" cy="502920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7472" y="2048255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2020824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048255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cp backend/.env.example backend/.env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2295144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Fill in OPENAI_API_KEY, TAVILY_API_KEY, JWT_SECRET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" y="2688336"/>
            <a:ext cx="347472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" y="2715768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688336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271576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DATABASE_URL=postgresql://...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2962656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localhost:5432/research (Docker default)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72" y="3355848"/>
            <a:ext cx="347472" cy="5029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" y="3383279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3355848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3383279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REDIS_URL=redis://localhost:6379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47472" y="4023360"/>
            <a:ext cx="347472" cy="5029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" y="4050792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4023360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050792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DEV_AUTH_BYPASS=true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4297680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Skip OIDC — any username logs in during dev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" y="4690872"/>
            <a:ext cx="347472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7472" y="4718304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" y="4690872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4718304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uvicorn app.main:app --reload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4965192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Backend on :8000  (from backend/ directory)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72" y="5358383"/>
            <a:ext cx="347472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47472" y="5385816"/>
            <a:ext cx="34747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1629"/>
                </a:solidFill>
                <a:latin typeface="Calibri Light"/>
              </a:rPr>
              <a:t>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5358383"/>
            <a:ext cx="5102352" cy="502920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5385816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C96B"/>
                </a:solidFill>
                <a:latin typeface="Consolas"/>
              </a:rPr>
              <a:t>npm run dev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632703"/>
            <a:ext cx="49377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  <a:latin typeface="Calibri"/>
              </a:rPr>
              <a:t>Frontend on :5173  (from frontend/ directory)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55080" y="932688"/>
            <a:ext cx="5486400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83096" y="950976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B1629"/>
                </a:solidFill>
                <a:latin typeface="Calibri"/>
              </a:rPr>
              <a:t>AWS Production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1353312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355080" y="1353312"/>
            <a:ext cx="36576" cy="566928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55664" y="138074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5CF6"/>
                </a:solidFill>
                <a:latin typeface="Consolas"/>
              </a:rPr>
              <a:t>AWS_SECRET_NAME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55664" y="1645920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prod/myapp/db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46920" y="146304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Postgres credentials (replaces DATABASE_URL)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55080" y="2011680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55080" y="2011680"/>
            <a:ext cx="36576" cy="566928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55664" y="203911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43F5E"/>
                </a:solidFill>
                <a:latin typeface="Consolas"/>
              </a:rPr>
              <a:t>AWS_ELASTICACHE_SECRET_NAME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55664" y="2304288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prod/myapp/redis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46920" y="2121408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Redis token (replaces REDIS_URL)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355080" y="2670048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55080" y="2670048"/>
            <a:ext cx="36576" cy="566928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55664" y="2697479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onsolas"/>
              </a:rPr>
              <a:t>AWS_REGION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2962656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us-east-1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46920" y="2779776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Shared by both secrets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55080" y="3328416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355080" y="3328416"/>
            <a:ext cx="36576" cy="5669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55664" y="3355848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onsolas"/>
              </a:rPr>
              <a:t>OPENAI_API_KEY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55664" y="3621024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sk-...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46920" y="3438144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GPT-4o research + entity extraction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3986783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355080" y="3986783"/>
            <a:ext cx="36576" cy="56692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55664" y="4014215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onsolas"/>
              </a:rPr>
              <a:t>TAVILY_API_KEY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55664" y="4279392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tvly-...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46920" y="4096511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Web search tool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55080" y="4645152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355080" y="4645152"/>
            <a:ext cx="36576" cy="566928"/>
          </a:xfrm>
          <a:prstGeom prst="rect">
            <a:avLst/>
          </a:prstGeom>
          <a:solidFill>
            <a:srgbClr val="F0C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467258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0C96B"/>
                </a:solidFill>
                <a:latin typeface="Consolas"/>
              </a:rPr>
              <a:t>JWT_SECRET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455664" y="4937760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&lt;strong key&gt;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46920" y="4754880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Change from default in all non-dev envs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355080" y="5303520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355080" y="5303520"/>
            <a:ext cx="36576" cy="56692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55664" y="5330952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onsolas"/>
              </a:rPr>
              <a:t>OIDC_ISSUER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455664" y="5596128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https://...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46920" y="5413248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Any OpenID Connect provider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55080" y="5961888"/>
            <a:ext cx="5486400" cy="56692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6355080" y="5961888"/>
            <a:ext cx="36576" cy="566928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455664" y="5989320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4A3B8"/>
                </a:solidFill>
                <a:latin typeface="Consolas"/>
              </a:rPr>
              <a:t>ALLOWED_ORIGINS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455664" y="6254496"/>
            <a:ext cx="3108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0C96B"/>
                </a:solidFill>
                <a:latin typeface="Consolas"/>
              </a:rPr>
              <a:t>["https://..."]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646920" y="6071616"/>
            <a:ext cx="2057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94A3B8"/>
                </a:solidFill>
                <a:latin typeface="Calibri"/>
              </a:rPr>
              <a:t>CORS whitelist (JSON array)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355080" y="6446520"/>
            <a:ext cx="5486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94A3B8"/>
                </a:solidFill>
                <a:latin typeface="Calibri"/>
              </a:rPr>
              <a:t>SSL is auto-enabled for Postgres; TLS (rediss://) is auto-enabled for Redis when using AWS secrets.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16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50292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50292"/>
            <a:ext cx="3227832" cy="676656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7280" y="1463040"/>
            <a:ext cx="1417320" cy="14173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141732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B1629"/>
                </a:solidFill>
                <a:latin typeface="Calibri Light"/>
              </a:rPr>
              <a:t>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090672"/>
            <a:ext cx="73152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 Light"/>
              </a:rPr>
              <a:t>Playbook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767328"/>
            <a:ext cx="7315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D4AA50"/>
                </a:solidFill>
                <a:latin typeface="Calibri Light"/>
              </a:rPr>
              <a:t>Questions?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4343400"/>
            <a:ext cx="6400799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097280" y="4462272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  <a:latin typeface="Calibri"/>
              </a:rPr>
              <a:t>Thank you for your time.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" y="5029200"/>
            <a:ext cx="1389888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5214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B981"/>
                </a:solidFill>
                <a:latin typeface="Calibri"/>
              </a:rPr>
              <a:t>Backend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FastAPI · Python 3.12 · asyncpg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560320" y="5029200"/>
            <a:ext cx="1389888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1518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Calibri"/>
              </a:rPr>
              <a:t>Frontend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518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SvelteKit · TypeScript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36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360" y="5029200"/>
            <a:ext cx="1389888" cy="36576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7822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59E0B"/>
                </a:solidFill>
                <a:latin typeface="Calibri"/>
              </a:rPr>
              <a:t>AI Models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822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GPT-4o + Claude Sonnet 4.6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0" y="5029200"/>
            <a:ext cx="1389888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4126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8B5CF6"/>
                </a:solidFill>
                <a:latin typeface="Calibri"/>
              </a:rPr>
              <a:t>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126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PostgreSQL · Redis · 12 tables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5029200"/>
            <a:ext cx="1389888" cy="749808"/>
          </a:xfrm>
          <a:prstGeom prst="rect">
            <a:avLst/>
          </a:prstGeom>
          <a:solidFill>
            <a:srgbClr val="0F2040"/>
          </a:solidFill>
          <a:ln w="6350">
            <a:solidFill>
              <a:srgbClr val="1E3A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0" y="5029200"/>
            <a:ext cx="1389888" cy="36576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04304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6B6D4"/>
                </a:solidFill>
                <a:latin typeface="Calibri"/>
              </a:rPr>
              <a:t>Infra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04304" y="5285232"/>
            <a:ext cx="12801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94A3B8"/>
                </a:solidFill>
                <a:latin typeface="Calibri"/>
              </a:rPr>
              <a:t>AWS RDS · ElastiCache · Secrets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6400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A50"/>
                </a:solidFill>
                <a:latin typeface="Calibri"/>
              </a:rPr>
              <a:t>Architecture at a glance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144000" y="950976"/>
            <a:ext cx="2788920" cy="0"/>
          </a:xfrm>
          <a:prstGeom prst="line">
            <a:avLst/>
          </a:prstGeom>
          <a:ln w="7620">
            <a:solidFill>
              <a:srgbClr val="1E3A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9144000" y="1042415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53728" y="10972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14 slides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0" y="177393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53728" y="18288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8 API routers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144000" y="250545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53728" y="25603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7 agent tools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44000" y="323697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253728" y="3291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12 DB tables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396849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53728" y="402336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4 sharing phases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144000" y="470001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53728" y="47548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3 visibility tiers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0" y="543153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53728" y="548640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4 team roles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44000" y="6163056"/>
            <a:ext cx="36576" cy="502920"/>
          </a:xfrm>
          <a:prstGeom prst="rect">
            <a:avLst/>
          </a:prstGeom>
          <a:solidFill>
            <a:srgbClr val="D4AA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53728" y="621792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1F5F9"/>
                </a:solidFill>
                <a:latin typeface="Calibri"/>
              </a:rPr>
              <a:t>1 permanent share URL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